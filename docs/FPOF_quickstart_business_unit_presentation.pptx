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E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4023360" cy="868680"/>
          </a:xfrm>
          <a:prstGeom prst="rect">
            <a:avLst/>
          </a:prstGeom>
          <a:solidFill>
            <a:srgbClr val="FE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4023360" y="5989320"/>
            <a:ext cx="4206240" cy="868680"/>
          </a:xfrm>
          <a:prstGeom prst="rect">
            <a:avLst/>
          </a:prstGeom>
          <a:solidFill>
            <a:srgbClr val="68A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8229600" y="5989320"/>
            <a:ext cx="39620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972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500">
                <a:solidFill>
                  <a:srgbClr val="FFFFFF"/>
                </a:solidFill>
                <a:latin typeface="Pretendard"/>
              </a:defRPr>
            </a:pPr>
            <a:r>
              <a:rPr>
                <a:latin typeface="Pretendard"/>
              </a:rPr>
              <a:t>FPOF 퀵스타트 발표</a:t>
            </a:r>
          </a:p>
          <a:p>
            <a:pPr>
              <a:defRPr sz="1500">
                <a:solidFill>
                  <a:srgbClr val="FEF200"/>
                </a:solidFill>
                <a:latin typeface="Pretendard"/>
              </a:defRPr>
            </a:pPr>
            <a:r>
              <a:rPr>
                <a:latin typeface="Pretendard"/>
              </a:rPr>
              <a:t>와키윌리 사업부 온보딩 프레젠테이션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2926080" cy="365760"/>
          </a:xfrm>
          <a:prstGeom prst="rect">
            <a:avLst/>
          </a:prstGeom>
          <a:solidFill>
            <a:srgbClr val="FE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BRAND STORY PALETTE APPLIED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FFFFFF"/>
                </a:solidFill>
                <a:latin typeface="Pretendard"/>
              </a:defRPr>
            </a:pPr>
            <a:r>
              <a:rPr>
                <a:latin typeface="Pretendard"/>
              </a:rPr>
              <a:t>기반 문서: docs/quickstart-guide.md</a:t>
            </a:r>
          </a:p>
          <a:p>
            <a:pPr>
              <a:spcAft>
                <a:spcPts val="900"/>
              </a:spcAft>
              <a:defRPr sz="2000">
                <a:solidFill>
                  <a:srgbClr val="FFFFFF"/>
                </a:solidFill>
                <a:latin typeface="Pretendard"/>
              </a:defRPr>
            </a:pPr>
            <a:r>
              <a:rPr>
                <a:latin typeface="Pretendard"/>
              </a:rPr>
              <a:t>컬러 기준: wackywilly.co.kr/brand-story.html CSS</a:t>
            </a:r>
          </a:p>
          <a:p>
            <a:pPr>
              <a:spcAft>
                <a:spcPts val="900"/>
              </a:spcAft>
              <a:defRPr sz="2000">
                <a:solidFill>
                  <a:srgbClr val="FFFFFF"/>
                </a:solidFill>
                <a:latin typeface="Pretendard"/>
              </a:defRPr>
            </a:pPr>
            <a:r>
              <a:rPr>
                <a:latin typeface="Pretendard"/>
              </a:rPr>
              <a:t>발표일: 2026-03-01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5566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  <a:latin typeface="Pretendard"/>
              </a:defRPr>
            </a:pPr>
            <a:r>
              <a:rPr>
                <a:latin typeface="Pretendard"/>
              </a:rPr>
              <a:t>WACKY WILLY FPOF QUICKSTART |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72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5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발표 아젠다</a:t>
            </a:r>
          </a:p>
          <a:p>
            <a:pPr>
              <a:defRPr sz="1500">
                <a:solidFill>
                  <a:srgbClr val="5F5F5F"/>
                </a:solidFill>
                <a:latin typeface="Pretendard"/>
              </a:defRPr>
            </a:pPr>
            <a:r>
              <a:rPr>
                <a:latin typeface="Pretendard"/>
              </a:rPr>
              <a:t>시스템 이해 -&gt; 실행 운영 -&gt; 관리 체계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6118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61188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EF200"/>
                </a:solidFill>
                <a:latin typeface="Pretendard"/>
              </a:defRPr>
            </a:pPr>
            <a:r>
              <a:rPr>
                <a:latin typeface="Pretendard"/>
              </a:rPr>
              <a:t>A. 시스템 이해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95728"/>
            <a:ext cx="329184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1) 시스템 정의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2) 시작 3단계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3) Plan 표준 플로우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1828800"/>
            <a:ext cx="36118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4526280" y="1828800"/>
            <a:ext cx="361188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EF200"/>
                </a:solidFill>
                <a:latin typeface="Pretendard"/>
              </a:defRPr>
            </a:pPr>
            <a:r>
              <a:rPr>
                <a:latin typeface="Pretendard"/>
              </a:rPr>
              <a:t>B. 실행 운영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395728"/>
            <a:ext cx="329184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4) PDCA 요청 문장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5) TOP 20 활용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6) 명령 체계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1828800"/>
            <a:ext cx="306324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8321040" y="1828800"/>
            <a:ext cx="306324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EF200"/>
                </a:solidFill>
                <a:latin typeface="Pretendard"/>
              </a:defRPr>
            </a:pPr>
            <a:r>
              <a:rPr>
                <a:latin typeface="Pretendard"/>
              </a:rPr>
              <a:t>C. 관리 체계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9" y="2395728"/>
            <a:ext cx="274320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7) 품질 확보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8) 리스크 관리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9) 도입 실행안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5566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3A3A3"/>
                </a:solidFill>
                <a:latin typeface="Pretendard"/>
              </a:defRPr>
            </a:pPr>
            <a:r>
              <a:rPr>
                <a:latin typeface="Pretendard"/>
              </a:rPr>
              <a:t>WACKY WILLY FPOF QUICKSTART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E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9601200" y="5029200"/>
            <a:ext cx="1737360" cy="1737360"/>
          </a:xfrm>
          <a:prstGeom prst="ellipse">
            <a:avLst/>
          </a:prstGeom>
          <a:solidFill>
            <a:srgbClr val="FE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4" name="Oval 3"/>
          <p:cNvSpPr/>
          <p:nvPr/>
        </p:nvSpPr>
        <p:spPr>
          <a:xfrm>
            <a:off x="10607040" y="5029200"/>
            <a:ext cx="1280160" cy="1280160"/>
          </a:xfrm>
          <a:prstGeom prst="ellipse">
            <a:avLst/>
          </a:prstGeom>
          <a:solidFill>
            <a:srgbClr val="68A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5" name="Oval 4"/>
          <p:cNvSpPr/>
          <p:nvPr/>
        </p:nvSpPr>
        <p:spPr>
          <a:xfrm>
            <a:off x="91440" y="5029200"/>
            <a:ext cx="822960" cy="822960"/>
          </a:xfrm>
          <a:prstGeom prst="ellipse">
            <a:avLst/>
          </a:prstGeom>
          <a:solidFill>
            <a:srgbClr val="68A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972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500">
                <a:solidFill>
                  <a:srgbClr val="FFFFFF"/>
                </a:solidFill>
                <a:latin typeface="Pretendard"/>
              </a:defRPr>
            </a:pPr>
            <a:r>
              <a:rPr>
                <a:latin typeface="Pretendard"/>
              </a:rPr>
              <a:t>A. 시스템 이해</a:t>
            </a:r>
          </a:p>
          <a:p>
            <a:pPr>
              <a:defRPr sz="1500">
                <a:solidFill>
                  <a:srgbClr val="FEF200"/>
                </a:solidFill>
                <a:latin typeface="Pretendard"/>
              </a:defRPr>
            </a:pPr>
            <a:r>
              <a:rPr>
                <a:latin typeface="Pretendard"/>
              </a:rPr>
              <a:t>FPOF가 무엇이고 어떻게 시작하는가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1280160" cy="320040"/>
          </a:xfrm>
          <a:prstGeom prst="rect">
            <a:avLst/>
          </a:prstGeom>
          <a:solidFill>
            <a:srgbClr val="FE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SECTION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5566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  <a:latin typeface="Pretendard"/>
              </a:defRPr>
            </a:pPr>
            <a:r>
              <a:rPr>
                <a:latin typeface="Pretendard"/>
              </a:rPr>
              <a:t>WACKY WILLY FPOF QUICKSTART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72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5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1) 시스템 한 줄 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2011680" cy="347472"/>
          </a:xfrm>
          <a:prstGeom prst="rect">
            <a:avLst/>
          </a:prstGeom>
          <a:solidFill>
            <a:srgbClr val="FE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핵심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AI가 와키윌리 6개 전문 팀, 20명 역할을 수행하는 운영 시스템</a:t>
            </a:r>
          </a:p>
          <a:p>
            <a:pPr>
              <a:spcAft>
                <a:spcPts val="900"/>
              </a:spcAft>
              <a:defRPr sz="21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자연어 지시 -&gt; 브랜드 지식 기반 산출물 생성</a:t>
            </a:r>
          </a:p>
          <a:p>
            <a:pPr>
              <a:spcAft>
                <a:spcPts val="900"/>
              </a:spcAft>
              <a:defRPr sz="21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트렌드/디자인/생산/마케팅/분석까지 시즌 전체 커버</a:t>
            </a:r>
          </a:p>
          <a:p>
            <a:pPr>
              <a:spcAft>
                <a:spcPts val="900"/>
              </a:spcAft>
              <a:defRPr sz="21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PDCA 단계 + 검수(QG)로 품질과 실행력을 동시에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3A3A3"/>
                </a:solidFill>
                <a:latin typeface="Pretendard"/>
              </a:defRPr>
            </a:pPr>
            <a:r>
              <a:rPr>
                <a:latin typeface="Pretendard"/>
              </a:rPr>
              <a:t>WACKY WILLY FPOF QUICKSTART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72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5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2) 시작 3단계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5661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56616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EF200"/>
                </a:solidFill>
                <a:latin typeface="Pretendard"/>
              </a:defRPr>
            </a:pPr>
            <a:r>
              <a:rPr>
                <a:latin typeface="Pretendard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95728"/>
            <a:ext cx="324612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프로젝트 폴더 오픈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CLAUDE.md + .fpof-state.json 로드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현재 시즌/단계 파악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1828800"/>
            <a:ext cx="35661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4526280" y="1828800"/>
            <a:ext cx="356616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EF200"/>
                </a:solidFill>
                <a:latin typeface="Pretendard"/>
              </a:defRPr>
            </a:pPr>
            <a:r>
              <a:rPr>
                <a:latin typeface="Pretendard"/>
              </a:rP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395728"/>
            <a:ext cx="324612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현재 상태 질문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"지금 어디까지 진행됐어?"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작업 이력/산출물 확인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1828800"/>
            <a:ext cx="30632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8321040" y="1828800"/>
            <a:ext cx="306324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EF200"/>
                </a:solidFill>
                <a:latin typeface="Pretendard"/>
              </a:defRPr>
            </a:pPr>
            <a:r>
              <a:rPr>
                <a:latin typeface="Pretendard"/>
              </a:rPr>
              <a:t>STEP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9" y="2395728"/>
            <a:ext cx="274320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작업 지시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담당 전문가 자동 배정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Codex: make status/sync-state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5566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3A3A3"/>
                </a:solidFill>
                <a:latin typeface="Pretendard"/>
              </a:defRPr>
            </a:pPr>
            <a:r>
              <a:rPr>
                <a:latin typeface="Pretendard"/>
              </a:rPr>
              <a:t>WACKY WILLY FPOF QUICKSTART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72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5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3) 첫 시즌 기획(Plan) 표준 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Step1 트렌드 -&gt; Step2 브랜드 전략 -&gt; Step3 MD 전략</a:t>
            </a:r>
          </a:p>
          <a:p>
            <a:pPr>
              <a:spcAft>
                <a:spcPts val="900"/>
              </a:spcAft>
              <a:defRPr sz="20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Step4 라인시트 -&gt; Step5 Plan 검수(QG1)</a:t>
            </a:r>
          </a:p>
          <a:p>
            <a:pPr>
              <a:spcAft>
                <a:spcPts val="900"/>
              </a:spcAft>
              <a:defRPr sz="20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QG1 PASS 후 Design 단계로 전환</a:t>
            </a:r>
          </a:p>
          <a:p>
            <a:pPr>
              <a:spcAft>
                <a:spcPts val="900"/>
              </a:spcAft>
              <a:defRPr sz="20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승인은 반드시 사업부 담당자가 수행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343400"/>
            <a:ext cx="10698480" cy="118872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6" name="Oval 5"/>
          <p:cNvSpPr/>
          <p:nvPr/>
        </p:nvSpPr>
        <p:spPr>
          <a:xfrm>
            <a:off x="914400" y="4151376"/>
            <a:ext cx="411480" cy="411480"/>
          </a:xfrm>
          <a:prstGeom prst="ellipse">
            <a:avLst/>
          </a:prstGeom>
          <a:solidFill>
            <a:srgbClr val="FE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72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3A3A3"/>
                </a:solidFill>
                <a:latin typeface="Pretendard"/>
              </a:defRPr>
            </a:pPr>
            <a:r>
              <a:rPr>
                <a:latin typeface="Pretendard"/>
              </a:rPr>
              <a:t>Trend</a:t>
            </a:r>
          </a:p>
        </p:txBody>
      </p:sp>
      <p:sp>
        <p:nvSpPr>
          <p:cNvPr id="8" name="Oval 7"/>
          <p:cNvSpPr/>
          <p:nvPr/>
        </p:nvSpPr>
        <p:spPr>
          <a:xfrm>
            <a:off x="3063240" y="4151376"/>
            <a:ext cx="411480" cy="411480"/>
          </a:xfrm>
          <a:prstGeom prst="ellipse">
            <a:avLst/>
          </a:prstGeom>
          <a:solidFill>
            <a:srgbClr val="68A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2880360" y="4617720"/>
            <a:ext cx="10972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3A3A3"/>
                </a:solidFill>
                <a:latin typeface="Pretendard"/>
              </a:defRPr>
            </a:pPr>
            <a:r>
              <a:rPr>
                <a:latin typeface="Pretendard"/>
              </a:rPr>
              <a:t>Strategy</a:t>
            </a:r>
          </a:p>
        </p:txBody>
      </p:sp>
      <p:sp>
        <p:nvSpPr>
          <p:cNvPr id="10" name="Oval 9"/>
          <p:cNvSpPr/>
          <p:nvPr/>
        </p:nvSpPr>
        <p:spPr>
          <a:xfrm>
            <a:off x="5212080" y="4151376"/>
            <a:ext cx="411480" cy="41148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029200" y="4617720"/>
            <a:ext cx="10972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3A3A3"/>
                </a:solidFill>
                <a:latin typeface="Pretendard"/>
              </a:defRPr>
            </a:pPr>
            <a:r>
              <a:rPr>
                <a:latin typeface="Pretendard"/>
              </a:rPr>
              <a:t>MD</a:t>
            </a:r>
          </a:p>
        </p:txBody>
      </p:sp>
      <p:sp>
        <p:nvSpPr>
          <p:cNvPr id="12" name="Oval 11"/>
          <p:cNvSpPr/>
          <p:nvPr/>
        </p:nvSpPr>
        <p:spPr>
          <a:xfrm>
            <a:off x="7360920" y="4151376"/>
            <a:ext cx="411480" cy="411480"/>
          </a:xfrm>
          <a:prstGeom prst="ellipse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178040" y="4617720"/>
            <a:ext cx="10972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3A3A3"/>
                </a:solidFill>
                <a:latin typeface="Pretendard"/>
              </a:defRPr>
            </a:pPr>
            <a:r>
              <a:rPr>
                <a:latin typeface="Pretendard"/>
              </a:rPr>
              <a:t>LineSheet</a:t>
            </a:r>
          </a:p>
        </p:txBody>
      </p:sp>
      <p:sp>
        <p:nvSpPr>
          <p:cNvPr id="14" name="Oval 13"/>
          <p:cNvSpPr/>
          <p:nvPr/>
        </p:nvSpPr>
        <p:spPr>
          <a:xfrm>
            <a:off x="9509760" y="4151376"/>
            <a:ext cx="411480" cy="4114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9326880" y="4617720"/>
            <a:ext cx="10972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3A3A3"/>
                </a:solidFill>
                <a:latin typeface="Pretendard"/>
              </a:defRPr>
            </a:pPr>
            <a:r>
              <a:rPr>
                <a:latin typeface="Pretendard"/>
              </a:rPr>
              <a:t>QG1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5566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3A3A3"/>
                </a:solidFill>
                <a:latin typeface="Pretendard"/>
              </a:defRPr>
            </a:pPr>
            <a:r>
              <a:rPr>
                <a:latin typeface="Pretendard"/>
              </a:rPr>
              <a:t>WACKY WILLY FPOF QUICKSTART |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E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9601200" y="5029200"/>
            <a:ext cx="1737360" cy="1737360"/>
          </a:xfrm>
          <a:prstGeom prst="ellipse">
            <a:avLst/>
          </a:prstGeom>
          <a:solidFill>
            <a:srgbClr val="FE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4" name="Oval 3"/>
          <p:cNvSpPr/>
          <p:nvPr/>
        </p:nvSpPr>
        <p:spPr>
          <a:xfrm>
            <a:off x="10607040" y="5029200"/>
            <a:ext cx="1280160" cy="1280160"/>
          </a:xfrm>
          <a:prstGeom prst="ellipse">
            <a:avLst/>
          </a:prstGeom>
          <a:solidFill>
            <a:srgbClr val="68A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5" name="Oval 4"/>
          <p:cNvSpPr/>
          <p:nvPr/>
        </p:nvSpPr>
        <p:spPr>
          <a:xfrm>
            <a:off x="91440" y="5029200"/>
            <a:ext cx="822960" cy="822960"/>
          </a:xfrm>
          <a:prstGeom prst="ellipse">
            <a:avLst/>
          </a:prstGeom>
          <a:solidFill>
            <a:srgbClr val="68A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972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500">
                <a:solidFill>
                  <a:srgbClr val="FFFFFF"/>
                </a:solidFill>
                <a:latin typeface="Pretendard"/>
              </a:defRPr>
            </a:pPr>
            <a:r>
              <a:rPr>
                <a:latin typeface="Pretendard"/>
              </a:rPr>
              <a:t>B. 실행 운영</a:t>
            </a:r>
          </a:p>
          <a:p>
            <a:pPr>
              <a:defRPr sz="1500">
                <a:solidFill>
                  <a:srgbClr val="FEF200"/>
                </a:solidFill>
                <a:latin typeface="Pretendard"/>
              </a:defRPr>
            </a:pPr>
            <a:r>
              <a:rPr>
                <a:latin typeface="Pretendard"/>
              </a:rPr>
              <a:t>단계별 요청/명령 체계를 바로 적용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1280160" cy="320040"/>
          </a:xfrm>
          <a:prstGeom prst="rect">
            <a:avLst/>
          </a:prstGeom>
          <a:solidFill>
            <a:srgbClr val="FE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SECTION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5566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  <a:latin typeface="Pretendard"/>
              </a:defRPr>
            </a:pPr>
            <a:r>
              <a:rPr>
                <a:latin typeface="Pretendard"/>
              </a:rPr>
              <a:t>WACKY WILLY FPOF QUICKSTART |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72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5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4) PDCA 단계별 대표 요청 문장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2402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24028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EF200"/>
                </a:solidFill>
                <a:latin typeface="Pretendard"/>
              </a:defRPr>
            </a:pPr>
            <a:r>
              <a:rPr>
                <a:latin typeface="Pretendard"/>
              </a:rPr>
              <a:t>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95728"/>
            <a:ext cx="192024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트렌드 분석해줘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시즌 테마 제안해줘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SKU 짜줘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Plan 검수해줘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828800"/>
            <a:ext cx="22402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3154680" y="1828800"/>
            <a:ext cx="224028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EF200"/>
                </a:solidFill>
                <a:latin typeface="Pretendard"/>
              </a:defRPr>
            </a:pPr>
            <a:r>
              <a:rPr>
                <a:latin typeface="Pretendard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395728"/>
            <a:ext cx="192024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무드보드 만들어줘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디자인 스펙 작성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룩북 이미지 생성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Design 검수해줘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1828800"/>
            <a:ext cx="22402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5577840" y="1828800"/>
            <a:ext cx="224028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EF200"/>
                </a:solidFill>
                <a:latin typeface="Pretendard"/>
              </a:defRPr>
            </a:pPr>
            <a:r>
              <a:rPr>
                <a:latin typeface="Pretendard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395728"/>
            <a:ext cx="192024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테크팩 만들어줘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IMC 전략 짜줘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PDP 카피 써줘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Do 검수해줘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1828800"/>
            <a:ext cx="22402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8001000" y="1828800"/>
            <a:ext cx="224028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EF200"/>
                </a:solidFill>
                <a:latin typeface="Pretendard"/>
              </a:defRPr>
            </a:pPr>
            <a:r>
              <a:rPr>
                <a:latin typeface="Pretendard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395728"/>
            <a:ext cx="192024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매출 분석해줘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왜 잘 팔렸어?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갭 분석해줘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보고서 만들어줘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24160" y="1828800"/>
            <a:ext cx="17373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10424160" y="1828800"/>
            <a:ext cx="173736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EF200"/>
                </a:solidFill>
                <a:latin typeface="Pretendard"/>
              </a:defRPr>
            </a:pPr>
            <a:r>
              <a:rPr>
                <a:latin typeface="Pretendard"/>
              </a:rPr>
              <a:t>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2395728"/>
            <a:ext cx="1417319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자동 개선해줘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다음 시즌 준비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5566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3A3A3"/>
                </a:solidFill>
                <a:latin typeface="Pretendard"/>
              </a:defRPr>
            </a:pPr>
            <a:r>
              <a:rPr>
                <a:latin typeface="Pretendard"/>
              </a:rPr>
              <a:t>WACKY WILLY FPOF QUICKSTART |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72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5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5) 자주 쓰는 요청 TOP 20 활용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48640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48640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EF200"/>
                </a:solidFill>
                <a:latin typeface="Pretendard"/>
              </a:defRPr>
            </a:pPr>
            <a:r>
              <a:rPr>
                <a:latin typeface="Pretendard"/>
              </a:rPr>
              <a:t>운영 효과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95728"/>
            <a:ext cx="516636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신규 인원도 동일 품질로 빠르게 실행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요청문 표준화로 시행착오 감소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팀별 공용 템플릿 축적 가능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502920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02920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EF200"/>
                </a:solidFill>
                <a:latin typeface="Pretendard"/>
              </a:defRPr>
            </a:pPr>
            <a:r>
              <a:rPr>
                <a:latin typeface="Pretendard"/>
              </a:rPr>
              <a:t>사업부 권장 액션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95728"/>
            <a:ext cx="470916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부문별 고빈도 요청 5개 선정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프롬프트 변형본(타겟/채널) 준비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월 1회 성과 기반 업데이트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5566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3A3A3"/>
                </a:solidFill>
                <a:latin typeface="Pretendard"/>
              </a:defRPr>
            </a:pPr>
            <a:r>
              <a:rPr>
                <a:latin typeface="Pretendard"/>
              </a:rPr>
              <a:t>WACKY WILLY FPOF QUICKSTART |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72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5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6) 명령 체계: Slash + Codex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34924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34924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EF200"/>
                </a:solidFill>
                <a:latin typeface="Pretendard"/>
              </a:defRPr>
            </a:pPr>
            <a:r>
              <a:rPr>
                <a:latin typeface="Pretendard"/>
              </a:rPr>
              <a:t>슬래시 명령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95728"/>
            <a:ext cx="502920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/status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/brief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/review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/next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/export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828800"/>
            <a:ext cx="534924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309360" y="1828800"/>
            <a:ext cx="534924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EF200"/>
                </a:solidFill>
                <a:latin typeface="Pretendard"/>
              </a:defRPr>
            </a:pPr>
            <a:r>
              <a:rPr>
                <a:latin typeface="Pretendard"/>
              </a:rPr>
              <a:t>Codex 명령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95728"/>
            <a:ext cx="502920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make status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make sync-state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make route-skill PROMPT="..."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make check-output INPUT="..."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make convert IN=... OUT=...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5566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3A3A3"/>
                </a:solidFill>
                <a:latin typeface="Pretendard"/>
              </a:defRPr>
            </a:pPr>
            <a:r>
              <a:rPr>
                <a:latin typeface="Pretendard"/>
              </a:rPr>
              <a:t>WACKY WILLY FPOF QUICKSTART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E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9601200" y="5029200"/>
            <a:ext cx="1737360" cy="1737360"/>
          </a:xfrm>
          <a:prstGeom prst="ellipse">
            <a:avLst/>
          </a:prstGeom>
          <a:solidFill>
            <a:srgbClr val="FE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4" name="Oval 3"/>
          <p:cNvSpPr/>
          <p:nvPr/>
        </p:nvSpPr>
        <p:spPr>
          <a:xfrm>
            <a:off x="10607040" y="5029200"/>
            <a:ext cx="1280160" cy="1280160"/>
          </a:xfrm>
          <a:prstGeom prst="ellipse">
            <a:avLst/>
          </a:prstGeom>
          <a:solidFill>
            <a:srgbClr val="68A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5" name="Oval 4"/>
          <p:cNvSpPr/>
          <p:nvPr/>
        </p:nvSpPr>
        <p:spPr>
          <a:xfrm>
            <a:off x="91440" y="5029200"/>
            <a:ext cx="822960" cy="822960"/>
          </a:xfrm>
          <a:prstGeom prst="ellipse">
            <a:avLst/>
          </a:prstGeom>
          <a:solidFill>
            <a:srgbClr val="68A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972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500">
                <a:solidFill>
                  <a:srgbClr val="FFFFFF"/>
                </a:solidFill>
                <a:latin typeface="Pretendard"/>
              </a:defRPr>
            </a:pPr>
            <a:r>
              <a:rPr>
                <a:latin typeface="Pretendard"/>
              </a:rPr>
              <a:t>C. 관리 체계</a:t>
            </a:r>
          </a:p>
          <a:p>
            <a:pPr>
              <a:defRPr sz="1500">
                <a:solidFill>
                  <a:srgbClr val="FEF200"/>
                </a:solidFill>
                <a:latin typeface="Pretendard"/>
              </a:defRPr>
            </a:pPr>
            <a:r>
              <a:rPr>
                <a:latin typeface="Pretendard"/>
              </a:rPr>
              <a:t>품질, 리스크, 도입 실행을 정착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1280160" cy="320040"/>
          </a:xfrm>
          <a:prstGeom prst="rect">
            <a:avLst/>
          </a:prstGeom>
          <a:solidFill>
            <a:srgbClr val="FE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SECTION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5566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  <a:latin typeface="Pretendard"/>
              </a:defRPr>
            </a:pPr>
            <a:r>
              <a:rPr>
                <a:latin typeface="Pretendard"/>
              </a:rPr>
              <a:t>WACKY WILLY FPOF QUICKSTART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72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5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7) 품질 확보 원칙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요청은 구체적으로: 타겟/카테고리/스타일/목표를 함께 지정</a:t>
            </a:r>
          </a:p>
          <a:p>
            <a:pPr>
              <a:spcAft>
                <a:spcPts val="900"/>
              </a:spcAft>
              <a:defRPr sz="21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전문가를 명시적으로 지정해 결과 정확도 향상</a:t>
            </a:r>
          </a:p>
          <a:p>
            <a:pPr>
              <a:spcAft>
                <a:spcPts val="900"/>
              </a:spcAft>
              <a:defRPr sz="21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이전 산출물 참조 지시로 맥락 연속성 확보</a:t>
            </a:r>
          </a:p>
          <a:p>
            <a:pPr>
              <a:spcAft>
                <a:spcPts val="900"/>
              </a:spcAft>
              <a:defRPr sz="21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단계 종료마다 검수 요청으로 누락 사전 차단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3A3A3"/>
                </a:solidFill>
                <a:latin typeface="Pretendard"/>
              </a:defRPr>
            </a:pPr>
            <a:r>
              <a:rPr>
                <a:latin typeface="Pretendard"/>
              </a:rPr>
              <a:t>WACKY WILLY FPOF QUICKSTART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72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5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8) 주의사항 및 리스크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48640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48640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EF200"/>
                </a:solidFill>
                <a:latin typeface="Pretendard"/>
              </a:defRPr>
            </a:pPr>
            <a:r>
              <a:rPr>
                <a:latin typeface="Pretendard"/>
              </a:rPr>
              <a:t>주의사항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95728"/>
            <a:ext cx="516636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Check 단계 데이터는 사업부가 직접 제공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AI 이미지는 방향성 참고용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프리셋 JSON 정확도가 품질 좌우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502920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02920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EF200"/>
                </a:solidFill>
                <a:latin typeface="Pretendard"/>
              </a:defRPr>
            </a:pPr>
            <a:r>
              <a:rPr>
                <a:latin typeface="Pretendard"/>
              </a:rPr>
              <a:t>리스크 대응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95728"/>
            <a:ext cx="470916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상태파일과 output 정기 동기화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동시다발 요청보다 단계형 승인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전략 변경 시 preset 먼저 갱신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5566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3A3A3"/>
                </a:solidFill>
                <a:latin typeface="Pretendard"/>
              </a:defRPr>
            </a:pPr>
            <a:r>
              <a:rPr>
                <a:latin typeface="Pretendard"/>
              </a:rPr>
              <a:t>WACKY WILLY FPOF QUICKSTART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72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5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9) 2주 도입 실행안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39496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39496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EF200"/>
                </a:solidFill>
                <a:latin typeface="Pretendard"/>
              </a:defRPr>
            </a:pPr>
            <a:r>
              <a:rPr>
                <a:latin typeface="Pretendard"/>
              </a:rPr>
              <a:t>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95728"/>
            <a:ext cx="507492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핵심 사용자 3~5명 선정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TOP 요청 8개 표준화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26SS Plan 시범 운영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검수 포맷 정착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828800"/>
            <a:ext cx="512064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355080" y="1828800"/>
            <a:ext cx="512064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EF200"/>
                </a:solidFill>
                <a:latin typeface="Pretendard"/>
              </a:defRPr>
            </a:pPr>
            <a:r>
              <a:rPr>
                <a:latin typeface="Pretendard"/>
              </a:rPr>
              <a:t>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395728"/>
            <a:ext cx="480060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Design~Do 연동 테스트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KPI 입력체계 확정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QG 리허설</a:t>
            </a:r>
          </a:p>
          <a:p>
            <a:pPr>
              <a:spcAft>
                <a:spcPts val="500"/>
              </a:spcAft>
              <a:defRPr sz="1400">
                <a:solidFill>
                  <a:srgbClr val="1F1F1E"/>
                </a:solidFill>
                <a:latin typeface="Pretendard"/>
              </a:defRPr>
            </a:pPr>
            <a:r>
              <a:rPr>
                <a:latin typeface="Pretendard"/>
              </a:rPr>
              <a:t>정식 운영 체크리스트 확정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5566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3A3A3"/>
                </a:solidFill>
                <a:latin typeface="Pretendard"/>
              </a:defRPr>
            </a:pPr>
            <a:r>
              <a:rPr>
                <a:latin typeface="Pretendard"/>
              </a:rPr>
              <a:t>WACKY WILLY FPOF QUICKSTART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E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72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500">
                <a:solidFill>
                  <a:srgbClr val="FFFFFF"/>
                </a:solidFill>
                <a:latin typeface="Pretendard"/>
              </a:defRPr>
            </a:pPr>
            <a:r>
              <a:rPr>
                <a:latin typeface="Pretendard"/>
              </a:rPr>
              <a:t>즉시 실행 체크리스트</a:t>
            </a:r>
          </a:p>
          <a:p>
            <a:pPr>
              <a:defRPr sz="1500">
                <a:solidFill>
                  <a:srgbClr val="FEF200"/>
                </a:solidFill>
                <a:latin typeface="Pretendard"/>
              </a:defRPr>
            </a:pPr>
            <a:r>
              <a:rPr>
                <a:latin typeface="Pretendard"/>
              </a:rPr>
              <a:t>회의 직후 바로 실행할 항목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FFFFFF"/>
                </a:solidFill>
                <a:latin typeface="Pretendard"/>
              </a:defRPr>
            </a:pPr>
            <a:r>
              <a:rPr>
                <a:latin typeface="Pretendard"/>
              </a:rPr>
              <a:t>1) make status</a:t>
            </a:r>
          </a:p>
          <a:p>
            <a:pPr>
              <a:spcAft>
                <a:spcPts val="900"/>
              </a:spcAft>
              <a:defRPr sz="2100">
                <a:solidFill>
                  <a:srgbClr val="FFFFFF"/>
                </a:solidFill>
                <a:latin typeface="Pretendard"/>
              </a:defRPr>
            </a:pPr>
            <a:r>
              <a:rPr>
                <a:latin typeface="Pretendard"/>
              </a:rPr>
              <a:t>2) 26SS Plan 요청 1건 실행</a:t>
            </a:r>
          </a:p>
          <a:p>
            <a:pPr>
              <a:spcAft>
                <a:spcPts val="900"/>
              </a:spcAft>
              <a:defRPr sz="2100">
                <a:solidFill>
                  <a:srgbClr val="FFFFFF"/>
                </a:solidFill>
                <a:latin typeface="Pretendard"/>
              </a:defRPr>
            </a:pPr>
            <a:r>
              <a:rPr>
                <a:latin typeface="Pretendard"/>
              </a:rPr>
              <a:t>3) 결과 검수(/review)</a:t>
            </a:r>
          </a:p>
          <a:p>
            <a:pPr>
              <a:spcAft>
                <a:spcPts val="900"/>
              </a:spcAft>
              <a:defRPr sz="2100">
                <a:solidFill>
                  <a:srgbClr val="FFFFFF"/>
                </a:solidFill>
                <a:latin typeface="Pretendard"/>
              </a:defRPr>
            </a:pPr>
            <a:r>
              <a:rPr>
                <a:latin typeface="Pretendard"/>
              </a:rPr>
              <a:t>4) make sync-state</a:t>
            </a:r>
          </a:p>
          <a:p>
            <a:pPr>
              <a:spcAft>
                <a:spcPts val="900"/>
              </a:spcAft>
              <a:defRPr sz="2100">
                <a:solidFill>
                  <a:srgbClr val="FFFFFF"/>
                </a:solidFill>
                <a:latin typeface="Pretendard"/>
              </a:defRPr>
            </a:pPr>
            <a:r>
              <a:rPr>
                <a:latin typeface="Pretendard"/>
              </a:rPr>
              <a:t>5) 팀별 TOP 요청 템플릿 확정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  <a:latin typeface="Pretendard"/>
              </a:defRPr>
            </a:pPr>
            <a:r>
              <a:rPr>
                <a:latin typeface="Pretendard"/>
              </a:rPr>
              <a:t>WACKY WILLY FPOF QUICKSTART |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retendard"/>
        <a:ea typeface=""/>
        <a:cs typeface=""/>
        <a:font script="Jpan" typeface="ＭＳ Ｐゴシック"/>
        <a:font script="Hang" typeface="Pretendard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"/>
        <a:cs typeface=""/>
        <a:font script="Jpan" typeface="ＭＳ Ｐゴシック"/>
        <a:font script="Hang" typeface="Pretendard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